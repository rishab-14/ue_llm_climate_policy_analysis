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63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30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38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38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32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43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8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11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1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24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1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42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A2082-8A9D-4527-B5E4-B0D1D0D1972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8B0FD-3771-43FE-BD97-7509D6DF6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9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19">
            <a:extLst>
              <a:ext uri="{FF2B5EF4-FFF2-40B4-BE49-F238E27FC236}">
                <a16:creationId xmlns:a16="http://schemas.microsoft.com/office/drawing/2014/main" id="{BF736313-2210-7879-A7F9-48382BC89021}"/>
              </a:ext>
            </a:extLst>
          </p:cNvPr>
          <p:cNvSpPr/>
          <p:nvPr/>
        </p:nvSpPr>
        <p:spPr>
          <a:xfrm>
            <a:off x="1852422" y="793386"/>
            <a:ext cx="3155188" cy="7424928"/>
          </a:xfrm>
          <a:prstGeom prst="rect">
            <a:avLst/>
          </a:prstGeom>
          <a:solidFill>
            <a:srgbClr val="F9F9F9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94C83895-43DC-72F2-4FD3-8ED698C371CB}"/>
              </a:ext>
            </a:extLst>
          </p:cNvPr>
          <p:cNvSpPr/>
          <p:nvPr/>
        </p:nvSpPr>
        <p:spPr>
          <a:xfrm>
            <a:off x="1850390" y="793386"/>
            <a:ext cx="315722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42D2A3A0-E284-400A-810E-00B1685C9BB9}"/>
              </a:ext>
            </a:extLst>
          </p:cNvPr>
          <p:cNvSpPr/>
          <p:nvPr/>
        </p:nvSpPr>
        <p:spPr>
          <a:xfrm>
            <a:off x="2427036" y="808223"/>
            <a:ext cx="216350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⚙️  Step-by-Step Workflow</a:t>
            </a:r>
            <a:endParaRPr lang="en-US" sz="1000" dirty="0"/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BF76ED0B-4FCE-6D83-AC34-1BE7B3D5EEB8}"/>
              </a:ext>
            </a:extLst>
          </p:cNvPr>
          <p:cNvSpPr/>
          <p:nvPr/>
        </p:nvSpPr>
        <p:spPr>
          <a:xfrm>
            <a:off x="2089150" y="1280603"/>
            <a:ext cx="2681933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1E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22430A67-4EBA-3561-396E-97D89B558CAA}"/>
              </a:ext>
            </a:extLst>
          </p:cNvPr>
          <p:cNvSpPr/>
          <p:nvPr/>
        </p:nvSpPr>
        <p:spPr>
          <a:xfrm>
            <a:off x="2330282" y="1400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C42E01B4-8136-F6AC-9ABC-267928D6D532}"/>
              </a:ext>
            </a:extLst>
          </p:cNvPr>
          <p:cNvSpPr/>
          <p:nvPr/>
        </p:nvSpPr>
        <p:spPr>
          <a:xfrm>
            <a:off x="2399335" y="1384756"/>
            <a:ext cx="13376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1E7A8F"/>
                </a:solidFill>
                <a:ea typeface="Calibri" pitchFamily="34" charset="-122"/>
                <a:cs typeface="Calibri" pitchFamily="34" charset="-120"/>
              </a:rPr>
              <a:t>Dataset Acquisition</a:t>
            </a:r>
            <a:endParaRPr lang="en-US" sz="650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00ECD5DA-6B67-8C6A-6014-4F72E967BA9F}"/>
              </a:ext>
            </a:extLst>
          </p:cNvPr>
          <p:cNvSpPr/>
          <p:nvPr/>
        </p:nvSpPr>
        <p:spPr>
          <a:xfrm>
            <a:off x="2210204" y="1612213"/>
            <a:ext cx="878840" cy="7228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Policies, climate laws, NDCs, and related documents</a:t>
            </a:r>
          </a:p>
          <a:p>
            <a:pPr>
              <a:spcAft>
                <a:spcPts val="200"/>
              </a:spcAft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Multiple files</a:t>
            </a:r>
            <a:endParaRPr lang="en-US" sz="600" dirty="0"/>
          </a:p>
          <a:p>
            <a:pPr>
              <a:spcAft>
                <a:spcPts val="200"/>
              </a:spcAft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Hugging Face dataset</a:t>
            </a:r>
            <a:endParaRPr lang="en-US" sz="600" dirty="0"/>
          </a:p>
        </p:txBody>
      </p:sp>
      <p:sp>
        <p:nvSpPr>
          <p:cNvPr id="62" name="Shape 28">
            <a:extLst>
              <a:ext uri="{FF2B5EF4-FFF2-40B4-BE49-F238E27FC236}">
                <a16:creationId xmlns:a16="http://schemas.microsoft.com/office/drawing/2014/main" id="{A516E220-F9A9-A1D9-8CF8-A81BC90BCD5B}"/>
              </a:ext>
            </a:extLst>
          </p:cNvPr>
          <p:cNvSpPr/>
          <p:nvPr/>
        </p:nvSpPr>
        <p:spPr>
          <a:xfrm>
            <a:off x="2089150" y="2577695"/>
            <a:ext cx="2681932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AC935DFD-104F-0964-B750-ADB9A468D373}"/>
              </a:ext>
            </a:extLst>
          </p:cNvPr>
          <p:cNvSpPr/>
          <p:nvPr/>
        </p:nvSpPr>
        <p:spPr>
          <a:xfrm>
            <a:off x="2946613" y="148909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76489EAB-9C81-1F7F-7E7F-099E5232E6E8}"/>
              </a:ext>
            </a:extLst>
          </p:cNvPr>
          <p:cNvSpPr/>
          <p:nvPr/>
        </p:nvSpPr>
        <p:spPr>
          <a:xfrm>
            <a:off x="2406467" y="2614077"/>
            <a:ext cx="1219962" cy="2986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1A5276"/>
                </a:solidFill>
                <a:ea typeface="Calibri" pitchFamily="34" charset="-122"/>
                <a:cs typeface="Calibri" pitchFamily="34" charset="-120"/>
              </a:rPr>
              <a:t>Document Reconstruction &amp; Preprocessing</a:t>
            </a:r>
            <a:endParaRPr lang="en-US" sz="650" dirty="0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FB3C3E42-DBBA-EFC7-AE22-513E86DE87C9}"/>
              </a:ext>
            </a:extLst>
          </p:cNvPr>
          <p:cNvSpPr/>
          <p:nvPr/>
        </p:nvSpPr>
        <p:spPr>
          <a:xfrm>
            <a:off x="2136170" y="2837939"/>
            <a:ext cx="1353460" cy="7173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Reconstruct full documents from text blocks</a:t>
            </a:r>
            <a:endParaRPr lang="en-US" sz="600" dirty="0"/>
          </a:p>
          <a:p>
            <a:pPr>
              <a:spcAft>
                <a:spcPts val="200"/>
              </a:spcAft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Detect, clean, and deduplicate metadata title, date, year</a:t>
            </a:r>
            <a:endParaRPr lang="en-US" sz="600" dirty="0"/>
          </a:p>
          <a:p>
            <a:pPr>
              <a:spcAft>
                <a:spcPts val="200"/>
              </a:spcAft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Clean text and remove noise</a:t>
            </a:r>
            <a:endParaRPr lang="en-US" sz="600" dirty="0"/>
          </a:p>
          <a:p>
            <a:pPr>
              <a:spcAft>
                <a:spcPts val="200"/>
              </a:spcAft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keep manageable document samples</a:t>
            </a:r>
            <a:endParaRPr lang="en-US" sz="600" dirty="0"/>
          </a:p>
        </p:txBody>
      </p:sp>
      <p:sp>
        <p:nvSpPr>
          <p:cNvPr id="66" name="Shape 33">
            <a:extLst>
              <a:ext uri="{FF2B5EF4-FFF2-40B4-BE49-F238E27FC236}">
                <a16:creationId xmlns:a16="http://schemas.microsoft.com/office/drawing/2014/main" id="{50425F81-848F-E094-2412-9DE2D34DE569}"/>
              </a:ext>
            </a:extLst>
          </p:cNvPr>
          <p:cNvSpPr/>
          <p:nvPr/>
        </p:nvSpPr>
        <p:spPr>
          <a:xfrm>
            <a:off x="2089151" y="3868642"/>
            <a:ext cx="2681932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480BB313-5213-2D1E-7339-BECAE67415DB}"/>
              </a:ext>
            </a:extLst>
          </p:cNvPr>
          <p:cNvSpPr/>
          <p:nvPr/>
        </p:nvSpPr>
        <p:spPr>
          <a:xfrm>
            <a:off x="2149699" y="3920485"/>
            <a:ext cx="256032" cy="25603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2EA6E5A4-4BF0-FD41-9E5D-101108386574}"/>
              </a:ext>
            </a:extLst>
          </p:cNvPr>
          <p:cNvSpPr/>
          <p:nvPr/>
        </p:nvSpPr>
        <p:spPr>
          <a:xfrm>
            <a:off x="2149699" y="392048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3D86528D-EF9D-A125-DC85-F44D4B7AB5CF}"/>
              </a:ext>
            </a:extLst>
          </p:cNvPr>
          <p:cNvSpPr/>
          <p:nvPr/>
        </p:nvSpPr>
        <p:spPr>
          <a:xfrm>
            <a:off x="2341723" y="3920484"/>
            <a:ext cx="1395218" cy="298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7D3C98"/>
                </a:solidFill>
                <a:ea typeface="Calibri" pitchFamily="34" charset="-122"/>
                <a:cs typeface="Calibri" pitchFamily="34" charset="-120"/>
              </a:rPr>
              <a:t>Model-Based Experimental Setup and Feature Engineering</a:t>
            </a:r>
            <a:endParaRPr lang="en-US" sz="650" dirty="0"/>
          </a:p>
        </p:txBody>
      </p:sp>
      <p:sp>
        <p:nvSpPr>
          <p:cNvPr id="70" name="Shape 58">
            <a:extLst>
              <a:ext uri="{FF2B5EF4-FFF2-40B4-BE49-F238E27FC236}">
                <a16:creationId xmlns:a16="http://schemas.microsoft.com/office/drawing/2014/main" id="{7409F9D8-4C2F-9109-1988-FC9AAB474A76}"/>
              </a:ext>
            </a:extLst>
          </p:cNvPr>
          <p:cNvSpPr/>
          <p:nvPr/>
        </p:nvSpPr>
        <p:spPr>
          <a:xfrm>
            <a:off x="2088034" y="6251665"/>
            <a:ext cx="2684066" cy="829035"/>
          </a:xfrm>
          <a:prstGeom prst="rect">
            <a:avLst/>
          </a:prstGeom>
          <a:solidFill>
            <a:srgbClr val="EAF2F8"/>
          </a:solidFill>
          <a:ln w="1524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59">
            <a:extLst>
              <a:ext uri="{FF2B5EF4-FFF2-40B4-BE49-F238E27FC236}">
                <a16:creationId xmlns:a16="http://schemas.microsoft.com/office/drawing/2014/main" id="{650CC507-0E52-46B2-CCE4-EF7E0AA3F1A2}"/>
              </a:ext>
            </a:extLst>
          </p:cNvPr>
          <p:cNvSpPr/>
          <p:nvPr/>
        </p:nvSpPr>
        <p:spPr>
          <a:xfrm>
            <a:off x="2330282" y="6315135"/>
            <a:ext cx="167910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471A3"/>
                </a:solidFill>
                <a:ea typeface="Calibri" pitchFamily="34" charset="-122"/>
                <a:cs typeface="Calibri" pitchFamily="34" charset="-120"/>
              </a:rPr>
              <a:t>Evaluation &amp; Result Generation</a:t>
            </a:r>
            <a:endParaRPr lang="en-US" sz="700" dirty="0"/>
          </a:p>
        </p:txBody>
      </p:sp>
      <p:sp>
        <p:nvSpPr>
          <p:cNvPr id="72" name="Text 60">
            <a:extLst>
              <a:ext uri="{FF2B5EF4-FFF2-40B4-BE49-F238E27FC236}">
                <a16:creationId xmlns:a16="http://schemas.microsoft.com/office/drawing/2014/main" id="{922C46B9-7BC7-E130-23FA-AF3EFCECA15D}"/>
              </a:ext>
            </a:extLst>
          </p:cNvPr>
          <p:cNvSpPr/>
          <p:nvPr/>
        </p:nvSpPr>
        <p:spPr>
          <a:xfrm>
            <a:off x="2209147" y="6534241"/>
            <a:ext cx="141728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Compute simple metrics</a:t>
            </a:r>
            <a:endParaRPr lang="en-US" sz="600" dirty="0"/>
          </a:p>
          <a:p>
            <a:pPr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Compare model outputs with keyword baselines</a:t>
            </a:r>
            <a:endParaRPr lang="en-US" sz="600" dirty="0"/>
          </a:p>
          <a:p>
            <a:pPr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Aggregate descriptive level results</a:t>
            </a:r>
            <a:endParaRPr lang="en-US" sz="6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0287A251-8C23-BBF4-B7A2-FDAF011A5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115" y="1621860"/>
            <a:ext cx="515405" cy="55835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65A8125B-173A-9193-04EB-10D531D81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23" y="1618556"/>
            <a:ext cx="416319" cy="501475"/>
          </a:xfrm>
          <a:prstGeom prst="rect">
            <a:avLst/>
          </a:prstGeom>
        </p:spPr>
      </p:pic>
      <p:sp>
        <p:nvSpPr>
          <p:cNvPr id="75" name="Shape 29">
            <a:extLst>
              <a:ext uri="{FF2B5EF4-FFF2-40B4-BE49-F238E27FC236}">
                <a16:creationId xmlns:a16="http://schemas.microsoft.com/office/drawing/2014/main" id="{73A00D15-D3CF-1AA8-585F-EED681416CD5}"/>
              </a:ext>
            </a:extLst>
          </p:cNvPr>
          <p:cNvSpPr/>
          <p:nvPr/>
        </p:nvSpPr>
        <p:spPr>
          <a:xfrm>
            <a:off x="2143303" y="2606077"/>
            <a:ext cx="256032" cy="25603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30">
            <a:extLst>
              <a:ext uri="{FF2B5EF4-FFF2-40B4-BE49-F238E27FC236}">
                <a16:creationId xmlns:a16="http://schemas.microsoft.com/office/drawing/2014/main" id="{CED5F012-2E7D-5FDD-8DB2-04DAA4C02FEB}"/>
              </a:ext>
            </a:extLst>
          </p:cNvPr>
          <p:cNvSpPr/>
          <p:nvPr/>
        </p:nvSpPr>
        <p:spPr>
          <a:xfrm>
            <a:off x="2143303" y="260607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7" name="Shape 24">
            <a:extLst>
              <a:ext uri="{FF2B5EF4-FFF2-40B4-BE49-F238E27FC236}">
                <a16:creationId xmlns:a16="http://schemas.microsoft.com/office/drawing/2014/main" id="{54F5B419-64DD-FD53-704A-B6D147EBECEF}"/>
              </a:ext>
            </a:extLst>
          </p:cNvPr>
          <p:cNvSpPr/>
          <p:nvPr/>
        </p:nvSpPr>
        <p:spPr>
          <a:xfrm>
            <a:off x="2181679" y="1356181"/>
            <a:ext cx="256032" cy="256032"/>
          </a:xfrm>
          <a:prstGeom prst="ellipse">
            <a:avLst/>
          </a:prstGeom>
          <a:solidFill>
            <a:srgbClr val="1E7A8F"/>
          </a:solidFill>
          <a:ln w="12700">
            <a:solidFill>
              <a:srgbClr val="1E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1FC146DC-745E-1936-F178-A9A06AA0EC0A}"/>
              </a:ext>
            </a:extLst>
          </p:cNvPr>
          <p:cNvSpPr/>
          <p:nvPr/>
        </p:nvSpPr>
        <p:spPr>
          <a:xfrm>
            <a:off x="2181679" y="135618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EA81C33A-9E88-EA91-2DE4-71ECBA455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115" y="2615942"/>
            <a:ext cx="601679" cy="659533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91096009-1FA2-0957-BC92-2BC81E21D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4794" y="2960152"/>
            <a:ext cx="435447" cy="541107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C15B1F1-1A31-0696-8E8B-04BCFE1D1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432" y="3961676"/>
            <a:ext cx="790869" cy="723465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70FC1518-6EE7-03C2-542F-81F6E0209433}"/>
              </a:ext>
            </a:extLst>
          </p:cNvPr>
          <p:cNvSpPr txBox="1"/>
          <p:nvPr/>
        </p:nvSpPr>
        <p:spPr>
          <a:xfrm>
            <a:off x="2197608" y="4217573"/>
            <a:ext cx="123139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SzPct val="100000"/>
            </a:pPr>
            <a:r>
              <a:rPr lang="en-US" sz="55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Kaggle /Google Collab Collaboratory</a:t>
            </a:r>
            <a:endParaRPr lang="en-US" sz="550" dirty="0"/>
          </a:p>
          <a:p>
            <a:pPr>
              <a:spcAft>
                <a:spcPts val="200"/>
              </a:spcAft>
              <a:buSzPct val="100000"/>
            </a:pPr>
            <a:r>
              <a:rPr lang="en-US" sz="55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Save tables,</a:t>
            </a:r>
            <a:r>
              <a:rPr lang="en-US" sz="550" dirty="0"/>
              <a:t> </a:t>
            </a:r>
            <a:r>
              <a:rPr lang="en-US" sz="55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figures</a:t>
            </a:r>
            <a:r>
              <a:rPr lang="en-US" sz="550" dirty="0"/>
              <a:t>, </a:t>
            </a:r>
          </a:p>
          <a:p>
            <a:pPr>
              <a:spcAft>
                <a:spcPts val="200"/>
              </a:spcAft>
              <a:buSzPct val="100000"/>
            </a:pPr>
            <a:r>
              <a:rPr lang="en-US" sz="55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Reproducible settings </a:t>
            </a:r>
          </a:p>
          <a:p>
            <a:pPr>
              <a:spcAft>
                <a:spcPts val="200"/>
              </a:spcAft>
              <a:buSzPct val="100000"/>
            </a:pPr>
            <a:r>
              <a:rPr lang="en-US" sz="55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and comments</a:t>
            </a:r>
            <a:endParaRPr lang="en-US" sz="55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CF91D628-CC4D-CA16-A46E-7F77882B82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5838" y="4087052"/>
            <a:ext cx="373487" cy="502275"/>
          </a:xfrm>
          <a:prstGeom prst="rect">
            <a:avLst/>
          </a:prstGeom>
        </p:spPr>
      </p:pic>
      <p:sp>
        <p:nvSpPr>
          <p:cNvPr id="84" name="Shape 33">
            <a:extLst>
              <a:ext uri="{FF2B5EF4-FFF2-40B4-BE49-F238E27FC236}">
                <a16:creationId xmlns:a16="http://schemas.microsoft.com/office/drawing/2014/main" id="{1CC63CE7-870F-826E-BBB6-595DC71182B5}"/>
              </a:ext>
            </a:extLst>
          </p:cNvPr>
          <p:cNvSpPr/>
          <p:nvPr/>
        </p:nvSpPr>
        <p:spPr>
          <a:xfrm>
            <a:off x="2088034" y="5131771"/>
            <a:ext cx="2681932" cy="740101"/>
          </a:xfrm>
          <a:prstGeom prst="rect">
            <a:avLst/>
          </a:prstGeom>
          <a:solidFill>
            <a:srgbClr val="FFFFFF"/>
          </a:solidFill>
          <a:ln w="1524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5" name="Shape 34">
            <a:extLst>
              <a:ext uri="{FF2B5EF4-FFF2-40B4-BE49-F238E27FC236}">
                <a16:creationId xmlns:a16="http://schemas.microsoft.com/office/drawing/2014/main" id="{7E0F5DA3-7F00-B347-6F05-B11032600E4A}"/>
              </a:ext>
            </a:extLst>
          </p:cNvPr>
          <p:cNvSpPr/>
          <p:nvPr/>
        </p:nvSpPr>
        <p:spPr>
          <a:xfrm>
            <a:off x="2148582" y="5183614"/>
            <a:ext cx="256032" cy="25603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IN" sz="900" dirty="0"/>
          </a:p>
        </p:txBody>
      </p:sp>
      <p:sp>
        <p:nvSpPr>
          <p:cNvPr id="86" name="Text 36">
            <a:extLst>
              <a:ext uri="{FF2B5EF4-FFF2-40B4-BE49-F238E27FC236}">
                <a16:creationId xmlns:a16="http://schemas.microsoft.com/office/drawing/2014/main" id="{44078465-1621-A3B8-726F-842E4E0C10BC}"/>
              </a:ext>
            </a:extLst>
          </p:cNvPr>
          <p:cNvSpPr/>
          <p:nvPr/>
        </p:nvSpPr>
        <p:spPr>
          <a:xfrm>
            <a:off x="2340606" y="5183613"/>
            <a:ext cx="1395218" cy="298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7D3C98"/>
                </a:solidFill>
                <a:ea typeface="Calibri" pitchFamily="34" charset="-122"/>
                <a:cs typeface="Calibri" pitchFamily="34" charset="-120"/>
              </a:rPr>
              <a:t>Model Prediction, Validation and fine tuning </a:t>
            </a:r>
            <a:endParaRPr lang="en-US" sz="65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265E74-A119-FC19-0CDB-D7C2F387F466}"/>
              </a:ext>
            </a:extLst>
          </p:cNvPr>
          <p:cNvSpPr txBox="1"/>
          <p:nvPr/>
        </p:nvSpPr>
        <p:spPr>
          <a:xfrm>
            <a:off x="2196491" y="5480702"/>
            <a:ext cx="123139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SzPct val="100000"/>
            </a:pPr>
            <a:r>
              <a:rPr lang="en-US" sz="55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Model is used developed with data set divided into training, test and validation</a:t>
            </a:r>
            <a:endParaRPr lang="en-US" sz="550" dirty="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FC515B8D-A730-BC02-856F-95AB102874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2134" y="5308577"/>
            <a:ext cx="463639" cy="518374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6B9BEB6-490A-5218-4D5E-F9BF6430F0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3765" y="5359649"/>
            <a:ext cx="490044" cy="453551"/>
          </a:xfrm>
          <a:prstGeom prst="rect">
            <a:avLst/>
          </a:prstGeom>
        </p:spPr>
      </p:pic>
      <p:sp>
        <p:nvSpPr>
          <p:cNvPr id="90" name="Shape 34">
            <a:extLst>
              <a:ext uri="{FF2B5EF4-FFF2-40B4-BE49-F238E27FC236}">
                <a16:creationId xmlns:a16="http://schemas.microsoft.com/office/drawing/2014/main" id="{83E166C7-1689-725C-0904-9C1D87773FD1}"/>
              </a:ext>
            </a:extLst>
          </p:cNvPr>
          <p:cNvSpPr/>
          <p:nvPr/>
        </p:nvSpPr>
        <p:spPr>
          <a:xfrm>
            <a:off x="2126388" y="628839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IN" sz="900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DD0468B9-E1C3-1D88-42F3-A99B1C6D54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6606" y="6612105"/>
            <a:ext cx="531071" cy="425963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2453A4A7-CBA1-3D2F-2817-538B26544A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4221" y="6366003"/>
            <a:ext cx="367266" cy="459083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DAD2749-92FD-230F-5E8B-6FD4ED8497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8503" y="6282320"/>
            <a:ext cx="463639" cy="502275"/>
          </a:xfrm>
          <a:prstGeom prst="rect">
            <a:avLst/>
          </a:prstGeom>
        </p:spPr>
      </p:pic>
      <p:sp>
        <p:nvSpPr>
          <p:cNvPr id="94" name="Shape 33">
            <a:extLst>
              <a:ext uri="{FF2B5EF4-FFF2-40B4-BE49-F238E27FC236}">
                <a16:creationId xmlns:a16="http://schemas.microsoft.com/office/drawing/2014/main" id="{3090DA92-C9C5-2D03-DE09-11A0379C5377}"/>
              </a:ext>
            </a:extLst>
          </p:cNvPr>
          <p:cNvSpPr/>
          <p:nvPr/>
        </p:nvSpPr>
        <p:spPr>
          <a:xfrm>
            <a:off x="2086917" y="7332749"/>
            <a:ext cx="2681932" cy="793315"/>
          </a:xfrm>
          <a:prstGeom prst="rect">
            <a:avLst/>
          </a:prstGeom>
          <a:solidFill>
            <a:srgbClr val="FFFFFF"/>
          </a:solidFill>
          <a:ln w="1524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5" name="Shape 34">
            <a:extLst>
              <a:ext uri="{FF2B5EF4-FFF2-40B4-BE49-F238E27FC236}">
                <a16:creationId xmlns:a16="http://schemas.microsoft.com/office/drawing/2014/main" id="{3F756507-E7AD-15A4-49EF-6A8442F5D7F2}"/>
              </a:ext>
            </a:extLst>
          </p:cNvPr>
          <p:cNvSpPr/>
          <p:nvPr/>
        </p:nvSpPr>
        <p:spPr>
          <a:xfrm>
            <a:off x="2147465" y="7384592"/>
            <a:ext cx="256032" cy="25603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IN" sz="900" dirty="0"/>
          </a:p>
        </p:txBody>
      </p:sp>
      <p:sp>
        <p:nvSpPr>
          <p:cNvPr id="96" name="Text 36">
            <a:extLst>
              <a:ext uri="{FF2B5EF4-FFF2-40B4-BE49-F238E27FC236}">
                <a16:creationId xmlns:a16="http://schemas.microsoft.com/office/drawing/2014/main" id="{6C689523-B4A4-29B7-72F3-21CA2AA2DD6B}"/>
              </a:ext>
            </a:extLst>
          </p:cNvPr>
          <p:cNvSpPr/>
          <p:nvPr/>
        </p:nvSpPr>
        <p:spPr>
          <a:xfrm>
            <a:off x="2339489" y="7384591"/>
            <a:ext cx="1395218" cy="298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00" b="1" dirty="0">
                <a:solidFill>
                  <a:srgbClr val="7D3C98"/>
                </a:solidFill>
                <a:ea typeface="Calibri" pitchFamily="34" charset="-122"/>
                <a:cs typeface="Calibri" pitchFamily="34" charset="-120"/>
              </a:rPr>
              <a:t>Publication Outputs &amp; Interpretation</a:t>
            </a:r>
            <a:endParaRPr lang="en-US" sz="65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5E1738-CBFE-23CE-9742-C3E5A1ED0CEB}"/>
              </a:ext>
            </a:extLst>
          </p:cNvPr>
          <p:cNvSpPr txBox="1"/>
          <p:nvPr/>
        </p:nvSpPr>
        <p:spPr>
          <a:xfrm>
            <a:off x="2277715" y="7635618"/>
            <a:ext cx="1231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Create tables and figures for RQ</a:t>
            </a:r>
            <a:endParaRPr lang="en-US" sz="600" dirty="0"/>
          </a:p>
          <a:p>
            <a:pPr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interpret findings</a:t>
            </a:r>
            <a:endParaRPr lang="en-US" sz="600" dirty="0"/>
          </a:p>
          <a:p>
            <a:pPr>
              <a:buSzPct val="100000"/>
            </a:pPr>
            <a:r>
              <a:rPr lang="en-US" sz="6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Discuss strengths, limitations, and future work</a:t>
            </a:r>
            <a:endParaRPr lang="en-US" sz="600" dirty="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E8C7570B-9E2F-1633-AA98-A3635E6502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220" y="7488459"/>
            <a:ext cx="354574" cy="45751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83E25B6-864E-2930-AE25-5AD811971C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0952" y="7533809"/>
            <a:ext cx="239046" cy="32072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7BB937AA-B9A7-BFE2-3D33-3B5E96C5AF9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9892" y="7476692"/>
            <a:ext cx="357790" cy="461665"/>
          </a:xfrm>
          <a:prstGeom prst="rect">
            <a:avLst/>
          </a:prstGeom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1208C6F-84E3-5F20-C08E-D11A28B4E32C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427883" y="2268155"/>
            <a:ext cx="1117" cy="309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AED1D96-78AA-F41C-CC4E-AFC5AD4A65D9}"/>
              </a:ext>
            </a:extLst>
          </p:cNvPr>
          <p:cNvCxnSpPr>
            <a:endCxn id="66" idx="0"/>
          </p:cNvCxnSpPr>
          <p:nvPr/>
        </p:nvCxnSpPr>
        <p:spPr>
          <a:xfrm>
            <a:off x="3427883" y="3565247"/>
            <a:ext cx="2234" cy="303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14104A2-18BD-C61D-9318-DEA97E01460A}"/>
              </a:ext>
            </a:extLst>
          </p:cNvPr>
          <p:cNvCxnSpPr>
            <a:stCxn id="66" idx="2"/>
            <a:endCxn id="84" idx="0"/>
          </p:cNvCxnSpPr>
          <p:nvPr/>
        </p:nvCxnSpPr>
        <p:spPr>
          <a:xfrm flipH="1">
            <a:off x="3429000" y="4856194"/>
            <a:ext cx="1117" cy="275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323557D-7AC0-A2F4-BE83-962ACC68D125}"/>
              </a:ext>
            </a:extLst>
          </p:cNvPr>
          <p:cNvCxnSpPr>
            <a:endCxn id="70" idx="0"/>
          </p:cNvCxnSpPr>
          <p:nvPr/>
        </p:nvCxnSpPr>
        <p:spPr>
          <a:xfrm>
            <a:off x="3427883" y="5871872"/>
            <a:ext cx="2184" cy="379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980E946-FB1F-CAFE-80B5-1A3DA77CA7B7}"/>
              </a:ext>
            </a:extLst>
          </p:cNvPr>
          <p:cNvCxnSpPr>
            <a:stCxn id="70" idx="2"/>
            <a:endCxn id="94" idx="0"/>
          </p:cNvCxnSpPr>
          <p:nvPr/>
        </p:nvCxnSpPr>
        <p:spPr>
          <a:xfrm flipH="1">
            <a:off x="3427883" y="7080700"/>
            <a:ext cx="2184" cy="252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90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</TotalTime>
  <Words>137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 Nandkishore Hanamar</dc:creator>
  <cp:lastModifiedBy>Rishab Nandkishore Hanamar</cp:lastModifiedBy>
  <cp:revision>2</cp:revision>
  <dcterms:created xsi:type="dcterms:W3CDTF">2026-06-04T15:33:29Z</dcterms:created>
  <dcterms:modified xsi:type="dcterms:W3CDTF">2026-06-04T21:16:41Z</dcterms:modified>
</cp:coreProperties>
</file>